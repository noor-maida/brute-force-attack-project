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PT Sans" panose="020B0703020203020204" pitchFamily="34" charset="0"/>
      <p:bold r:id="rId17"/>
    </p:embeddedFont>
    <p:embeddedFont>
      <p:font typeface="PT Sans" panose="020B0703020203020204" pitchFamily="34" charset="-122"/>
      <p:bold r:id="rId18"/>
    </p:embeddedFont>
    <p:embeddedFont>
      <p:font typeface="PT Sans" panose="020B0703020203020204" pitchFamily="34" charset="-120"/>
      <p:bold r:id="rId19"/>
    </p:embeddedFont>
    <p:embeddedFont>
      <p:font typeface="Nunito Semi Bold" pitchFamily="34" charset="0"/>
      <p:bold r:id="rId20"/>
    </p:embeddedFont>
    <p:embeddedFont>
      <p:font typeface="Nunito Semi Bold" pitchFamily="34" charset="-122"/>
      <p:bold r:id="rId21"/>
    </p:embeddedFont>
    <p:embeddedFont>
      <p:font typeface="Nunito Semi Bold" pitchFamily="34" charset="-120"/>
      <p:bold r:id="rId22"/>
    </p:embeddedFont>
    <p:embeddedFont>
      <p:font typeface="Consolas" panose="020B0609020204030204" pitchFamily="34" charset="0"/>
      <p:regular r:id="rId23"/>
      <p:bold r:id="rId24"/>
      <p:italic r:id="rId25"/>
      <p:boldItalic r:id="rId26"/>
    </p:embeddedFont>
    <p:embeddedFont>
      <p:font typeface="Consolas" panose="020B0609020204030204" pitchFamily="34" charset="-122"/>
      <p:regular r:id="rId27"/>
    </p:embeddedFont>
    <p:embeddedFont>
      <p:font typeface="Consolas" panose="020B0609020204030204" pitchFamily="34" charset="-120"/>
      <p:regular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  <p:embeddedFont>
      <p:font typeface="Calibri Light" panose="020F0302020204030204" charset="0"/>
      <p:regular r:id="rId33"/>
      <p:italic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18.fntdata"/><Relationship Id="rId33" Type="http://schemas.openxmlformats.org/officeDocument/2006/relationships/font" Target="fonts/font17.fntdata"/><Relationship Id="rId32" Type="http://schemas.openxmlformats.org/officeDocument/2006/relationships/font" Target="fonts/font16.fntdata"/><Relationship Id="rId31" Type="http://schemas.openxmlformats.org/officeDocument/2006/relationships/font" Target="fonts/font15.fntdata"/><Relationship Id="rId30" Type="http://schemas.openxmlformats.org/officeDocument/2006/relationships/font" Target="fonts/font14.fntdata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4C8E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4C8E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4C8E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4C8E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4C8E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4C8E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4C8E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589609"/>
            <a:ext cx="12954952" cy="3906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🔒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3428762" y="3219569"/>
            <a:ext cx="7772757" cy="971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7650"/>
              </a:lnSpc>
              <a:buNone/>
            </a:pPr>
            <a:r>
              <a:rPr lang="en-US" sz="6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Brute Force Attack</a:t>
            </a:r>
            <a:endParaRPr lang="en-US" sz="6100" dirty="0"/>
          </a:p>
        </p:txBody>
      </p:sp>
      <p:sp>
        <p:nvSpPr>
          <p:cNvPr id="4" name="Text 2"/>
          <p:cNvSpPr/>
          <p:nvPr/>
        </p:nvSpPr>
        <p:spPr>
          <a:xfrm>
            <a:off x="2251829" y="4550093"/>
            <a:ext cx="10126623" cy="5632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Simulation &amp; Secure Account Lockout Mechanism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837724" y="5472351"/>
            <a:ext cx="12954952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Information Security | Python Implementation | 2026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47674"/>
            <a:ext cx="7644408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What is a Brute Force Attack?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147417"/>
            <a:ext cx="12954952" cy="8446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An attacker tries every possible password one by one until the correct one is found — like trying every key on a keyring until the door opens.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807244" y="4320540"/>
            <a:ext cx="60960" cy="939522"/>
          </a:xfrm>
          <a:prstGeom prst="rect">
            <a:avLst/>
          </a:prstGeom>
          <a:solidFill>
            <a:srgbClr val="F2B42D"/>
          </a:solidFill>
        </p:spPr>
      </p:sp>
      <p:sp>
        <p:nvSpPr>
          <p:cNvPr id="5" name="Text 3"/>
          <p:cNvSpPr/>
          <p:nvPr/>
        </p:nvSpPr>
        <p:spPr>
          <a:xfrm>
            <a:off x="1639133" y="4351020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63946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Pick a target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7999" y="4846558"/>
            <a:ext cx="381857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Attacker knows the username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225296" y="4320540"/>
            <a:ext cx="60960" cy="939522"/>
          </a:xfrm>
          <a:prstGeom prst="rect">
            <a:avLst/>
          </a:prstGeom>
          <a:solidFill>
            <a:srgbClr val="D7425E"/>
          </a:solidFill>
        </p:spPr>
      </p:sp>
      <p:sp>
        <p:nvSpPr>
          <p:cNvPr id="8" name="Text 6"/>
          <p:cNvSpPr/>
          <p:nvPr/>
        </p:nvSpPr>
        <p:spPr>
          <a:xfrm>
            <a:off x="6057186" y="4351020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F0C04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Try passwords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56052" y="4846558"/>
            <a:ext cx="381857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Loop through common passwords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9643348" y="4320540"/>
            <a:ext cx="60960" cy="939522"/>
          </a:xfrm>
          <a:prstGeom prst="rect">
            <a:avLst/>
          </a:prstGeom>
          <a:solidFill>
            <a:srgbClr val="DD785E"/>
          </a:solidFill>
        </p:spPr>
      </p:sp>
      <p:sp>
        <p:nvSpPr>
          <p:cNvPr id="11" name="Text 9"/>
          <p:cNvSpPr/>
          <p:nvPr/>
        </p:nvSpPr>
        <p:spPr>
          <a:xfrm>
            <a:off x="10475238" y="4351020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EA043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Crack found!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974104" y="4846558"/>
            <a:ext cx="381857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Correct password discovered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37724" y="5498783"/>
            <a:ext cx="12954952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Without protection, this happens in milliseconds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32723"/>
            <a:ext cx="6591300" cy="5984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Phase 1 — Vulnerable System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837724" y="1777008"/>
            <a:ext cx="12954952" cy="857369"/>
          </a:xfrm>
          <a:prstGeom prst="roundRect">
            <a:avLst>
              <a:gd name="adj" fmla="val 35599"/>
            </a:avLst>
          </a:prstGeom>
          <a:solidFill>
            <a:srgbClr val="4B3F02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083" y="2023705"/>
            <a:ext cx="358973" cy="2871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20258" y="2000726"/>
            <a:ext cx="9152215" cy="359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✗ NO LOGIN ATTEMPT LIMIT ✗ NO ACCOUNT LOCKOUT ✗ NO DELAY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691277" y="2828925"/>
            <a:ext cx="6522244" cy="2762131"/>
          </a:xfrm>
          <a:prstGeom prst="roundRect">
            <a:avLst>
              <a:gd name="adj" fmla="val 17680"/>
            </a:avLst>
          </a:prstGeom>
          <a:solidFill>
            <a:srgbClr val="1F7135">
              <a:alpha val="75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894636" y="3023473"/>
            <a:ext cx="6115526" cy="2213372"/>
          </a:xfrm>
          <a:prstGeom prst="roundRect">
            <a:avLst>
              <a:gd name="adj" fmla="val 13789"/>
            </a:avLst>
          </a:prstGeom>
          <a:solidFill>
            <a:srgbClr val="2C7E42"/>
          </a:solidFill>
        </p:spPr>
      </p:sp>
      <p:sp>
        <p:nvSpPr>
          <p:cNvPr id="8" name="Shape 5"/>
          <p:cNvSpPr/>
          <p:nvPr/>
        </p:nvSpPr>
        <p:spPr>
          <a:xfrm>
            <a:off x="884515" y="3023473"/>
            <a:ext cx="6135767" cy="2213372"/>
          </a:xfrm>
          <a:prstGeom prst="roundRect">
            <a:avLst>
              <a:gd name="adj" fmla="val 1379"/>
            </a:avLst>
          </a:prstGeom>
          <a:solidFill>
            <a:srgbClr val="2C7E42"/>
          </a:solidFill>
        </p:spPr>
      </p:sp>
      <p:sp>
        <p:nvSpPr>
          <p:cNvPr id="9" name="Text 6"/>
          <p:cNvSpPr/>
          <p:nvPr/>
        </p:nvSpPr>
        <p:spPr>
          <a:xfrm>
            <a:off x="1138833" y="3226832"/>
            <a:ext cx="5627132" cy="18066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FF7B72"/>
                </a:solidFill>
                <a:highlight>
                  <a:srgbClr val="2C7E4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vulnerable_login(username, password):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FF7B72"/>
                </a:solidFill>
                <a:highlight>
                  <a:srgbClr val="2C7E4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FF7B72"/>
                </a:solidFill>
                <a:highlight>
                  <a:srgbClr val="2C7E4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username in users and users[username] == password: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FF7B72"/>
                </a:solidFill>
                <a:highlight>
                  <a:srgbClr val="2C7E4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return True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FF7B72"/>
                </a:solidFill>
                <a:highlight>
                  <a:srgbClr val="2C7E4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False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FF7B72"/>
                </a:solidFill>
                <a:highlight>
                  <a:srgbClr val="2C7E4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424499" y="2828925"/>
            <a:ext cx="6522244" cy="2762131"/>
          </a:xfrm>
          <a:prstGeom prst="roundRect">
            <a:avLst>
              <a:gd name="adj" fmla="val 17680"/>
            </a:avLst>
          </a:prstGeom>
          <a:solidFill>
            <a:srgbClr val="1F7135">
              <a:alpha val="75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7627858" y="3023473"/>
            <a:ext cx="6115526" cy="2373035"/>
          </a:xfrm>
          <a:prstGeom prst="roundRect">
            <a:avLst>
              <a:gd name="adj" fmla="val 12862"/>
            </a:avLst>
          </a:prstGeom>
          <a:solidFill>
            <a:srgbClr val="1F7135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217" y="3270171"/>
            <a:ext cx="358973" cy="28717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530477" y="3247192"/>
            <a:ext cx="2872502" cy="359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Result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8393549" y="3779163"/>
            <a:ext cx="5146477" cy="6022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Password cracked</a:t>
            </a:r>
            <a:r>
              <a:rPr lang="en-US" sz="160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          </a:t>
            </a:r>
            <a:r>
              <a:rPr lang="en-US" sz="1600" dirty="0">
                <a:solidFill>
                  <a:srgbClr val="E63946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in 0.00 seconds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393549" y="4536996"/>
            <a:ext cx="5146477" cy="6022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600" dirty="0">
                <a:solidFill>
                  <a:srgbClr val="F0C04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16,000 attempts/sec</a:t>
            </a:r>
            <a:r>
              <a:rPr lang="en-US" sz="160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          </a:t>
            </a:r>
            <a:r>
              <a:rPr lang="en-US" sz="1600" dirty="0">
                <a:solidFill>
                  <a:srgbClr val="8B949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No protection at all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37724" y="5785604"/>
            <a:ext cx="12954952" cy="1611154"/>
          </a:xfrm>
          <a:prstGeom prst="roundRect">
            <a:avLst>
              <a:gd name="adj" fmla="val 18944"/>
            </a:avLst>
          </a:prstGeom>
          <a:solidFill>
            <a:srgbClr val="2D599B"/>
          </a:solidFill>
        </p:spPr>
      </p:sp>
      <p:sp>
        <p:nvSpPr>
          <p:cNvPr id="17" name="Shape 13"/>
          <p:cNvSpPr/>
          <p:nvPr/>
        </p:nvSpPr>
        <p:spPr>
          <a:xfrm>
            <a:off x="827603" y="5785604"/>
            <a:ext cx="12975193" cy="1611154"/>
          </a:xfrm>
          <a:prstGeom prst="roundRect">
            <a:avLst>
              <a:gd name="adj" fmla="val 1894"/>
            </a:avLst>
          </a:prstGeom>
          <a:solidFill>
            <a:srgbClr val="2D599B"/>
          </a:solidFill>
        </p:spPr>
      </p:sp>
      <p:sp>
        <p:nvSpPr>
          <p:cNvPr id="18" name="Text 14"/>
          <p:cNvSpPr/>
          <p:nvPr/>
        </p:nvSpPr>
        <p:spPr>
          <a:xfrm>
            <a:off x="1081921" y="5988963"/>
            <a:ext cx="12466558" cy="12044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[1] Trying: '123456'  → wrong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[2] Trying: 'password' → wrong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[7] Trying: 'sunshine99' → CRACKED! *** Password found in 0.00s ***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65753"/>
            <a:ext cx="10901363" cy="6336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Phase 2 — Secure Account Lockout Mechanism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837724" y="2287191"/>
            <a:ext cx="4189095" cy="1627584"/>
          </a:xfrm>
          <a:prstGeom prst="roundRect">
            <a:avLst>
              <a:gd name="adj" fmla="val 19855"/>
            </a:avLst>
          </a:prstGeom>
          <a:solidFill>
            <a:srgbClr val="204C8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1486" y="2525435"/>
            <a:ext cx="3041452" cy="380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Attempt Limit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1075968" y="3021925"/>
            <a:ext cx="3712607" cy="6546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Max 3 wrong tries before lockout triggers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220653" y="2287191"/>
            <a:ext cx="4189095" cy="1627584"/>
          </a:xfrm>
          <a:prstGeom prst="roundRect">
            <a:avLst>
              <a:gd name="adj" fmla="val 19855"/>
            </a:avLst>
          </a:prstGeom>
          <a:solidFill>
            <a:srgbClr val="204C8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94415" y="2525435"/>
            <a:ext cx="3041452" cy="380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Account Lockout</a:t>
            </a:r>
            <a:endParaRPr lang="en-US" sz="2350" dirty="0"/>
          </a:p>
        </p:txBody>
      </p:sp>
      <p:sp>
        <p:nvSpPr>
          <p:cNvPr id="8" name="Text 6"/>
          <p:cNvSpPr/>
          <p:nvPr/>
        </p:nvSpPr>
        <p:spPr>
          <a:xfrm>
            <a:off x="5458897" y="3021925"/>
            <a:ext cx="3712607" cy="327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Account frozen for 10 seconds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603581" y="2287191"/>
            <a:ext cx="4189095" cy="1627584"/>
          </a:xfrm>
          <a:prstGeom prst="roundRect">
            <a:avLst>
              <a:gd name="adj" fmla="val 19855"/>
            </a:avLst>
          </a:prstGeom>
          <a:solidFill>
            <a:srgbClr val="204C8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77343" y="2525435"/>
            <a:ext cx="3041452" cy="380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Progressive Delay</a:t>
            </a:r>
            <a:endParaRPr lang="en-US" sz="2350" dirty="0"/>
          </a:p>
        </p:txBody>
      </p:sp>
      <p:sp>
        <p:nvSpPr>
          <p:cNvPr id="11" name="Text 9"/>
          <p:cNvSpPr/>
          <p:nvPr/>
        </p:nvSpPr>
        <p:spPr>
          <a:xfrm>
            <a:off x="9841825" y="3021925"/>
            <a:ext cx="3712607" cy="327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+1 second added per wrong attempt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37724" y="4351020"/>
            <a:ext cx="6214705" cy="2394585"/>
          </a:xfrm>
          <a:prstGeom prst="roundRect">
            <a:avLst>
              <a:gd name="adj" fmla="val 13496"/>
            </a:avLst>
          </a:prstGeom>
          <a:solidFill>
            <a:srgbClr val="2D599B"/>
          </a:solidFill>
        </p:spPr>
      </p:sp>
      <p:sp>
        <p:nvSpPr>
          <p:cNvPr id="13" name="Shape 11"/>
          <p:cNvSpPr/>
          <p:nvPr/>
        </p:nvSpPr>
        <p:spPr>
          <a:xfrm>
            <a:off x="827008" y="4351020"/>
            <a:ext cx="6236137" cy="2394585"/>
          </a:xfrm>
          <a:prstGeom prst="roundRect">
            <a:avLst>
              <a:gd name="adj" fmla="val 1350"/>
            </a:avLst>
          </a:prstGeom>
          <a:solidFill>
            <a:srgbClr val="2D599B"/>
          </a:solidFill>
        </p:spPr>
      </p:sp>
      <p:sp>
        <p:nvSpPr>
          <p:cNvPr id="14" name="Text 12"/>
          <p:cNvSpPr/>
          <p:nvPr/>
        </p:nvSpPr>
        <p:spPr>
          <a:xfrm>
            <a:off x="1096208" y="4566404"/>
            <a:ext cx="5697736" cy="19638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[1] Trying: '123456'   → wrong (1/3)</a:t>
            </a:r>
            <a:endParaRPr lang="en-US" sz="165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[2] Trying: 'password' → wait 1s → wrong (2/3)</a:t>
            </a:r>
            <a:endParaRPr lang="en-US" sz="165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[3] Trying: 'hello'    → wait 2s → ACCOUNT LOCKED</a:t>
            </a:r>
            <a:endParaRPr lang="en-US" sz="165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[4] Trying: 'qwerty'   → BLOCKED! 10s remaining</a:t>
            </a:r>
            <a:endParaRPr lang="en-US" sz="165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[7] Trying: 'sunshine99' → BLOCKED! Still locked</a:t>
            </a:r>
            <a:endParaRPr lang="en-US" sz="165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430452" y="4132898"/>
            <a:ext cx="6524982" cy="2830830"/>
          </a:xfrm>
          <a:prstGeom prst="roundRect">
            <a:avLst>
              <a:gd name="adj" fmla="val 18265"/>
            </a:avLst>
          </a:prstGeom>
          <a:solidFill>
            <a:srgbClr val="002200">
              <a:alpha val="75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7645837" y="4326731"/>
            <a:ext cx="3041452" cy="380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Result</a:t>
            </a:r>
            <a:endParaRPr lang="en-US" sz="2350" dirty="0"/>
          </a:p>
        </p:txBody>
      </p:sp>
      <p:sp>
        <p:nvSpPr>
          <p:cNvPr id="17" name="Text 15"/>
          <p:cNvSpPr/>
          <p:nvPr/>
        </p:nvSpPr>
        <p:spPr>
          <a:xfrm>
            <a:off x="7645837" y="4784408"/>
            <a:ext cx="4055388" cy="506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Attack BLOCKED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7645837" y="5485090"/>
            <a:ext cx="6094214" cy="327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Only 3 real attempts before lockout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645837" y="5986820"/>
            <a:ext cx="6094214" cy="327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Password never found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47355"/>
            <a:ext cx="9659422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Vulnerable vs Secured — Comparison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1930122"/>
            <a:ext cx="12954952" cy="5552123"/>
          </a:xfrm>
          <a:prstGeom prst="roundRect">
            <a:avLst>
              <a:gd name="adj" fmla="val 646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6088" y="2088952"/>
            <a:ext cx="382988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Metric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402223" y="2088952"/>
            <a:ext cx="382607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✗ Vulnerable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9714548" y="2088952"/>
            <a:ext cx="382988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✓ Secured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086088" y="2782014"/>
            <a:ext cx="382988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Password Cracked?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402223" y="2782014"/>
            <a:ext cx="382607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YES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9714548" y="2782014"/>
            <a:ext cx="382988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NO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086088" y="3475077"/>
            <a:ext cx="382988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Real Attempts Made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5402223" y="3475077"/>
            <a:ext cx="382607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16 attempts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9714548" y="3475077"/>
            <a:ext cx="382988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3 attempts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1086088" y="4168140"/>
            <a:ext cx="382988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Time Elapsed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5402223" y="4168140"/>
            <a:ext cx="382607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0.00 seconds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9714548" y="4168140"/>
            <a:ext cx="382988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3.00 seconds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1086088" y="4861203"/>
            <a:ext cx="382988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Attempts Per Second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5402223" y="4861203"/>
            <a:ext cx="382607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16,000/sec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9714548" y="4861203"/>
            <a:ext cx="382988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0.8/sec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1086088" y="5554266"/>
            <a:ext cx="382988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Attempt Limit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5402223" y="5554266"/>
            <a:ext cx="382607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None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9714548" y="5554266"/>
            <a:ext cx="382988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Max 3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086088" y="6247328"/>
            <a:ext cx="382988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Account Lockout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5402223" y="6247328"/>
            <a:ext cx="382607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None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9714548" y="6247328"/>
            <a:ext cx="382988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10 seconds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1086088" y="6940391"/>
            <a:ext cx="382988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Progressive Delay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5402223" y="6940391"/>
            <a:ext cx="382607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None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9714548" y="6940391"/>
            <a:ext cx="382988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+1s per fail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28343"/>
            <a:ext cx="5632490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How the Code Works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211110"/>
            <a:ext cx="3059192" cy="1894403"/>
          </a:xfrm>
          <a:prstGeom prst="roundRect">
            <a:avLst>
              <a:gd name="adj" fmla="val 18954"/>
            </a:avLst>
          </a:prstGeom>
          <a:solidFill>
            <a:srgbClr val="204C8E">
              <a:alpha val="75000"/>
            </a:srgbClr>
          </a:solidFill>
          <a:ln w="3048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7519" y="2480905"/>
            <a:ext cx="2519601" cy="4451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highlight>
                  <a:srgbClr val="2D599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users { }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107519" y="3069669"/>
            <a:ext cx="2519601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Dictionary storing usernames &amp; passwords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4136231" y="2211110"/>
            <a:ext cx="3059311" cy="1894403"/>
          </a:xfrm>
          <a:prstGeom prst="roundRect">
            <a:avLst>
              <a:gd name="adj" fmla="val 18954"/>
            </a:avLst>
          </a:prstGeom>
          <a:solidFill>
            <a:srgbClr val="204C8E">
              <a:alpha val="75000"/>
            </a:srgbClr>
          </a:solidFill>
          <a:ln w="30480">
            <a:solidFill>
              <a:srgbClr val="F0C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06027" y="2480905"/>
            <a:ext cx="2519720" cy="4451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highlight>
                  <a:srgbClr val="2D599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wordlist [ ]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4406027" y="3069669"/>
            <a:ext cx="2519720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List of passwords the attacker tries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434858" y="2211110"/>
            <a:ext cx="3059192" cy="1894403"/>
          </a:xfrm>
          <a:prstGeom prst="roundRect">
            <a:avLst>
              <a:gd name="adj" fmla="val 18954"/>
            </a:avLst>
          </a:prstGeom>
          <a:solidFill>
            <a:srgbClr val="204C8E">
              <a:alpha val="75000"/>
            </a:srgbClr>
          </a:solidFill>
          <a:ln w="3048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04653" y="2480905"/>
            <a:ext cx="2519601" cy="4451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highlight>
                  <a:srgbClr val="2D599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attack( )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704653" y="3069669"/>
            <a:ext cx="2519601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Loops through wordlist and tries each password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10733365" y="2211110"/>
            <a:ext cx="3059311" cy="1894403"/>
          </a:xfrm>
          <a:prstGeom prst="roundRect">
            <a:avLst>
              <a:gd name="adj" fmla="val 18954"/>
            </a:avLst>
          </a:prstGeom>
          <a:solidFill>
            <a:srgbClr val="204C8E">
              <a:alpha val="75000"/>
            </a:srgbClr>
          </a:solidFill>
          <a:ln w="30480">
            <a:solidFill>
              <a:srgbClr val="2EA0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03161" y="2480905"/>
            <a:ext cx="2519720" cy="4451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highlight>
                  <a:srgbClr val="2D599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is_locked( )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1003161" y="3069669"/>
            <a:ext cx="2519720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Checks if account is currently frozen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837724" y="4344829"/>
            <a:ext cx="6357818" cy="1511379"/>
          </a:xfrm>
          <a:prstGeom prst="roundRect">
            <a:avLst>
              <a:gd name="adj" fmla="val 23758"/>
            </a:avLst>
          </a:prstGeom>
          <a:solidFill>
            <a:srgbClr val="204C8E">
              <a:alpha val="75000"/>
            </a:srgbClr>
          </a:solidFill>
          <a:ln w="30480">
            <a:solidFill>
              <a:srgbClr val="F0C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7519" y="4614624"/>
            <a:ext cx="3379470" cy="4451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highlight>
                  <a:srgbClr val="2D599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apply_delay( )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1107519" y="5203388"/>
            <a:ext cx="5818227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Waits longer after each wrong attempt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7434858" y="4344829"/>
            <a:ext cx="6357818" cy="1511379"/>
          </a:xfrm>
          <a:prstGeom prst="roundRect">
            <a:avLst>
              <a:gd name="adj" fmla="val 23758"/>
            </a:avLst>
          </a:prstGeom>
          <a:solidFill>
            <a:srgbClr val="204C8E">
              <a:alpha val="75000"/>
            </a:srgbClr>
          </a:solidFill>
          <a:ln w="3048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04653" y="4614624"/>
            <a:ext cx="3379470" cy="4451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highlight>
                  <a:srgbClr val="2D599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record_failure( )</a:t>
            </a:r>
            <a:endParaRPr lang="en-US" sz="2650" dirty="0"/>
          </a:p>
        </p:txBody>
      </p:sp>
      <p:sp>
        <p:nvSpPr>
          <p:cNvPr id="20" name="Text 18"/>
          <p:cNvSpPr/>
          <p:nvPr/>
        </p:nvSpPr>
        <p:spPr>
          <a:xfrm>
            <a:off x="7704653" y="5203388"/>
            <a:ext cx="5818227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Counts wrong tries and triggers lockout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3526750" y="6215182"/>
            <a:ext cx="7576899" cy="4451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All parts combined in one file → </a:t>
            </a:r>
            <a:r>
              <a:rPr lang="en-US" sz="2650" dirty="0">
                <a:solidFill>
                  <a:srgbClr val="FFFFFF"/>
                </a:solidFill>
                <a:highlight>
                  <a:srgbClr val="2D599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Project_Code.py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4663916" y="6756083"/>
            <a:ext cx="5302448" cy="4451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Run with: </a:t>
            </a:r>
            <a:r>
              <a:rPr lang="en-US" sz="2650" dirty="0">
                <a:solidFill>
                  <a:srgbClr val="FFFFFF"/>
                </a:solidFill>
                <a:highlight>
                  <a:srgbClr val="2D599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Project_Code.py</a:t>
            </a:r>
            <a:endParaRPr lang="en-US" sz="2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898928"/>
            <a:ext cx="5632490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081695"/>
            <a:ext cx="4158734" cy="1696283"/>
          </a:xfrm>
          <a:prstGeom prst="roundRect">
            <a:avLst>
              <a:gd name="adj" fmla="val 21168"/>
            </a:avLst>
          </a:prstGeom>
          <a:solidFill>
            <a:srgbClr val="204C8E">
              <a:alpha val="75000"/>
            </a:srgbClr>
          </a:solidFill>
          <a:ln w="30480">
            <a:solidFill>
              <a:srgbClr val="F2B4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7519" y="3351490"/>
            <a:ext cx="3619143" cy="11566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⚡</a:t>
            </a: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Unlimited login attempts allow attackers to crack passwords in milliseconds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5235773" y="3081695"/>
            <a:ext cx="4158734" cy="1696283"/>
          </a:xfrm>
          <a:prstGeom prst="roundRect">
            <a:avLst>
              <a:gd name="adj" fmla="val 21168"/>
            </a:avLst>
          </a:prstGeom>
          <a:solidFill>
            <a:srgbClr val="204C8E">
              <a:alpha val="75000"/>
            </a:srgbClr>
          </a:solidFill>
          <a:ln w="30480">
            <a:solidFill>
              <a:srgbClr val="D742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05569" y="3351490"/>
            <a:ext cx="3619143" cy="11566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🔢</a:t>
            </a: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An attempt limit of just 3 stops the attack before the password is reached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9633823" y="3081695"/>
            <a:ext cx="4158853" cy="1696283"/>
          </a:xfrm>
          <a:prstGeom prst="roundRect">
            <a:avLst>
              <a:gd name="adj" fmla="val 21168"/>
            </a:avLst>
          </a:prstGeom>
          <a:solidFill>
            <a:srgbClr val="204C8E">
              <a:alpha val="75000"/>
            </a:srgbClr>
          </a:solidFill>
          <a:ln w="30480">
            <a:solidFill>
              <a:srgbClr val="DD78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03619" y="3351490"/>
            <a:ext cx="3619262" cy="11566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🔒</a:t>
            </a: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Account lockout freezes the account completely — even the correct password is rejected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37724" y="5017294"/>
            <a:ext cx="6357818" cy="1313259"/>
          </a:xfrm>
          <a:prstGeom prst="roundRect">
            <a:avLst>
              <a:gd name="adj" fmla="val 27342"/>
            </a:avLst>
          </a:prstGeom>
          <a:solidFill>
            <a:srgbClr val="204C8E">
              <a:alpha val="75000"/>
            </a:srgbClr>
          </a:solidFill>
          <a:ln w="30480">
            <a:solidFill>
              <a:srgbClr val="48A8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7519" y="5287089"/>
            <a:ext cx="5818227" cy="7736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🐢</a:t>
            </a: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Progressive delay slows each attempt down, making automation impractical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7434858" y="5017294"/>
            <a:ext cx="6357818" cy="1313259"/>
          </a:xfrm>
          <a:prstGeom prst="roundRect">
            <a:avLst>
              <a:gd name="adj" fmla="val 27342"/>
            </a:avLst>
          </a:prstGeom>
          <a:solidFill>
            <a:srgbClr val="204C8E">
              <a:alpha val="75000"/>
            </a:srgbClr>
          </a:solidFill>
          <a:ln w="30480">
            <a:solidFill>
              <a:srgbClr val="59AB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4653" y="5287089"/>
            <a:ext cx="5818227" cy="7736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🛡</a:t>
            </a:r>
            <a:r>
              <a:rPr lang="en-US" sz="1850" dirty="0">
                <a:solidFill>
                  <a:srgbClr val="FFFFF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Combining all three defenses makes brute force attacks practically impossible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3905" y="1778000"/>
            <a:ext cx="5016500" cy="51879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37515" y="596265"/>
            <a:ext cx="5548630" cy="626745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r>
              <a:rPr lang="en-US" sz="2800"/>
              <a:t>Brute Force Attack Demo on terminal</a:t>
            </a:r>
            <a:endParaRPr lang="en-US"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1750" y="1624330"/>
            <a:ext cx="4954905" cy="520319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29565" y="431165"/>
            <a:ext cx="4560570" cy="95250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r>
              <a:rPr lang="en-US" sz="2800"/>
              <a:t>Attack with protection on terminal</a:t>
            </a:r>
            <a:endParaRPr lang="en-US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7000" y="1675765"/>
            <a:ext cx="4861560" cy="515747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30200" y="388620"/>
            <a:ext cx="4876800" cy="953135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sz="2800"/>
              <a:t>Lockout Mechanism Demo on Terminal</a:t>
            </a:r>
            <a:endParaRPr lang="en-US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2614</Words>
  <Application>WPS Presentation</Application>
  <PresentationFormat>On-screen Show (16:9)</PresentationFormat>
  <Paragraphs>175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SimSun</vt:lpstr>
      <vt:lpstr>Wingdings</vt:lpstr>
      <vt:lpstr>PT Sans</vt:lpstr>
      <vt:lpstr>PT Sans</vt:lpstr>
      <vt:lpstr>PT Sans</vt:lpstr>
      <vt:lpstr>Nunito Semi Bold</vt:lpstr>
      <vt:lpstr>Nunito Semi Bold</vt:lpstr>
      <vt:lpstr>Nunito Semi Bold</vt:lpstr>
      <vt:lpstr>Consolas</vt:lpstr>
      <vt:lpstr>Consolas</vt:lpstr>
      <vt:lpstr>Consolas</vt:lpstr>
      <vt:lpstr>Calibri</vt:lpstr>
      <vt:lpstr>Microsoft YaHei</vt:lpstr>
      <vt:lpstr>Arial Unicode MS</vt:lpstr>
      <vt:lpstr>Calibri Light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Noor Maida</cp:lastModifiedBy>
  <cp:revision>3</cp:revision>
  <dcterms:created xsi:type="dcterms:W3CDTF">2026-04-19T13:21:00Z</dcterms:created>
  <dcterms:modified xsi:type="dcterms:W3CDTF">2026-04-19T14:19:53Z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1033-12.1.0.25180</vt:lpwstr>
  </property>
  <property fmtid="{D5CDD505-2E9C-101B-9397-08002B2CF9AE}" pid="3" name="ICV">
    <vt:lpwstr>03A8B6E6C7F84B29895E323A6D2B04D7_13</vt:lpwstr>
  </property>
</Properties>
</file>